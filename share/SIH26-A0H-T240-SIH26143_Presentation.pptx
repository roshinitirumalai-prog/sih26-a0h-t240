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8z2E1Q9oHt7J/ADzizv0mTkOe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swald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2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2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>
            <a:spLocks noGrp="1"/>
          </p:cNvSpPr>
          <p:nvPr>
            <p:ph type="pic" idx="2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6854900" y="851525"/>
            <a:ext cx="4446490" cy="5171688"/>
          </a:xfrm>
          <a:custGeom>
            <a:avLst/>
            <a:gdLst/>
            <a:ahLst/>
            <a:cxnLst/>
            <a:rect l="l" t="t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4902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1" descr="Picture 4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097890" y="1715880"/>
            <a:ext cx="3203512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>
            <a:spLocks noGrp="1"/>
          </p:cNvSpPr>
          <p:nvPr>
            <p:ph type="subTitle" idx="4294967295"/>
          </p:nvPr>
        </p:nvSpPr>
        <p:spPr>
          <a:xfrm>
            <a:off x="1245675" y="648624"/>
            <a:ext cx="8534400" cy="14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888888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BLUE TRACE</a:t>
            </a:r>
            <a:endParaRPr/>
          </a:p>
        </p:txBody>
      </p:sp>
      <p:sp>
        <p:nvSpPr>
          <p:cNvPr id="53" name="Google Shape;53;p1"/>
          <p:cNvSpPr txBox="1">
            <a:spLocks noGrp="1"/>
          </p:cNvSpPr>
          <p:nvPr>
            <p:ph type="ctrTitle" idx="4294967295"/>
          </p:nvPr>
        </p:nvSpPr>
        <p:spPr>
          <a:xfrm>
            <a:off x="331275" y="-691335"/>
            <a:ext cx="103632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000"/>
              <a:buFont typeface="Garamond"/>
              <a:buNone/>
            </a:pPr>
            <a:r>
              <a:rPr lang="en-US" sz="4000" b="1" i="0" u="none" strike="noStrike" cap="none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220025" y="2076450"/>
            <a:ext cx="6634800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–SIH26143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Title- S</a:t>
            </a:r>
            <a:r>
              <a:rPr lang="en-US" sz="2400" b="1" dirty="0">
                <a:solidFill>
                  <a:schemeClr val="dk1"/>
                </a:solidFill>
              </a:rPr>
              <a:t>ATELLITE + AIS OIL SPILL</a:t>
            </a:r>
            <a:endParaRPr sz="2400" b="1"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Theme-DISASTER MANAGEMENT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ID-SIH26-A0H-T240</a:t>
            </a:r>
            <a:endParaRPr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lang="en-US" sz="2400" b="1" dirty="0"/>
              <a:t>- </a:t>
            </a:r>
            <a:r>
              <a:rPr lang="en-US" sz="2400" b="1" dirty="0" err="1"/>
              <a:t>TechNova</a:t>
            </a:r>
            <a:endParaRPr dirty="0"/>
          </a:p>
        </p:txBody>
      </p:sp>
      <p:pic>
        <p:nvPicPr>
          <p:cNvPr id="55" name="Google Shape;55;p1" descr="Pictur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032" y="165425"/>
            <a:ext cx="118811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4693920" y="6404295"/>
            <a:ext cx="31125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-1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0" y="15300"/>
            <a:ext cx="109728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9091"/>
              <a:buFont typeface="Times New Roman"/>
              <a:buNone/>
            </a:pPr>
            <a:br>
              <a:rPr lang="en-US"/>
            </a:br>
            <a:r>
              <a:rPr lang="en-US"/>
              <a:t>SATELLITE + AIS OIL SPILL</a:t>
            </a:r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11393502" y="6404295"/>
            <a:ext cx="189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rgbClr val="FFFFFF"/>
                </a:solidFill>
              </a:rPr>
              <a:t>2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5" name="Google Shape;65;p2" descr="Picture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5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 descr="Code_Generated_Image-2.jpg"/>
          <p:cNvPicPr preferRelativeResize="0"/>
          <p:nvPr/>
        </p:nvPicPr>
        <p:blipFill rotWithShape="1">
          <a:blip r:embed="rId4">
            <a:alphaModFix/>
          </a:blip>
          <a:srcRect t="7467" r="4535"/>
          <a:stretch/>
        </p:blipFill>
        <p:spPr>
          <a:xfrm>
            <a:off x="25731" y="1485292"/>
            <a:ext cx="6753011" cy="36145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2"/>
          <p:cNvGrpSpPr/>
          <p:nvPr/>
        </p:nvGrpSpPr>
        <p:grpSpPr>
          <a:xfrm>
            <a:off x="2039186" y="4878528"/>
            <a:ext cx="8113625" cy="1341300"/>
            <a:chOff x="7143" y="159236"/>
            <a:chExt cx="8113625" cy="1341300"/>
          </a:xfrm>
        </p:grpSpPr>
        <p:sp>
          <p:nvSpPr>
            <p:cNvPr id="68" name="Google Shape;68;p2"/>
            <p:cNvSpPr/>
            <p:nvPr/>
          </p:nvSpPr>
          <p:spPr>
            <a:xfrm>
              <a:off x="7143" y="159236"/>
              <a:ext cx="2135100" cy="13413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38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 txBox="1"/>
            <p:nvPr/>
          </p:nvSpPr>
          <p:spPr>
            <a:xfrm>
              <a:off x="46424" y="198517"/>
              <a:ext cx="2056500" cy="126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Optical/hyperspectral data along with SAR to identify oil slicks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355850" y="565055"/>
              <a:ext cx="452700" cy="5295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C8DBFF"/>
                </a:gs>
                <a:gs pos="35000">
                  <a:srgbClr val="D8E3FE"/>
                </a:gs>
                <a:gs pos="100000">
                  <a:srgbClr val="EEF5FF"/>
                </a:gs>
              </a:gsLst>
              <a:lin ang="16200038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 txBox="1"/>
            <p:nvPr/>
          </p:nvSpPr>
          <p:spPr>
            <a:xfrm>
              <a:off x="2355850" y="670960"/>
              <a:ext cx="316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endPara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996406" y="159236"/>
              <a:ext cx="2135100" cy="13413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38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3035687" y="198517"/>
              <a:ext cx="2056500" cy="126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SAR ship detection along with AIS tracks for increased accuracy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345112" y="565055"/>
              <a:ext cx="452700" cy="5295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C8DBFF"/>
                </a:gs>
                <a:gs pos="35000">
                  <a:srgbClr val="D8E3FE"/>
                </a:gs>
                <a:gs pos="100000">
                  <a:srgbClr val="EEF5FF"/>
                </a:gs>
              </a:gsLst>
              <a:lin ang="16200038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5345112" y="670960"/>
              <a:ext cx="316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endPara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985668" y="159236"/>
              <a:ext cx="2135100" cy="13413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38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6024949" y="198517"/>
              <a:ext cx="2056500" cy="126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Historical vessel trajectory and gap detection using SAR for possible dark vessel detection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" name="Google Shape;78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92348" y="1441424"/>
            <a:ext cx="4799318" cy="31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290" y="142525"/>
            <a:ext cx="1104285" cy="10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>
            <a:spLocks noGrp="1"/>
          </p:cNvSpPr>
          <p:nvPr>
            <p:ph type="title"/>
          </p:nvPr>
        </p:nvSpPr>
        <p:spPr>
          <a:xfrm>
            <a:off x="374957" y="-38832"/>
            <a:ext cx="10972801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87" name="Google Shape;87;p3"/>
          <p:cNvSpPr txBox="1">
            <a:spLocks noGrp="1"/>
          </p:cNvSpPr>
          <p:nvPr>
            <p:ph type="sldNum" idx="1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rgbClr val="FFFFFF"/>
                </a:solidFill>
              </a:rPr>
              <a:t>3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8" name="Google Shape;88;p3" descr="Picture 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 descr="pic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857" y="1308418"/>
            <a:ext cx="7337441" cy="4891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032" y="165425"/>
            <a:ext cx="1188118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E627D-E0F2-F29F-AE65-039F26530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756" y="1063837"/>
            <a:ext cx="3486287" cy="5229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>
            <a:spLocks noGrp="1"/>
          </p:cNvSpPr>
          <p:nvPr>
            <p:ph type="title"/>
          </p:nvPr>
        </p:nvSpPr>
        <p:spPr>
          <a:xfrm>
            <a:off x="609600" y="-38832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99" name="Google Shape;99;p4"/>
          <p:cNvSpPr txBox="1">
            <a:spLocks noGrp="1"/>
          </p:cNvSpPr>
          <p:nvPr>
            <p:ph type="sldNum" idx="1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rgbClr val="FFFFFF"/>
                </a:solidFill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0" name="Google Shape;100;p4" descr="Picture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-841757" y="4087052"/>
            <a:ext cx="768658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Sentinel-1 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1697265" y="784636"/>
            <a:ext cx="560860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"/>
              <a:buNone/>
            </a:pPr>
            <a:r>
              <a:rPr lang="en-US" sz="2600" b="1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Why This Can Realistically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Be</a:t>
            </a:r>
            <a:r>
              <a:rPr lang="en-US" sz="2600" b="1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Built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260213" y="1448199"/>
            <a:ext cx="5737637" cy="2585283"/>
          </a:xfrm>
          <a:prstGeom prst="rect">
            <a:avLst/>
          </a:prstGeom>
          <a:solidFill>
            <a:srgbClr val="DCE6F2"/>
          </a:solidFill>
          <a:ln w="38100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Calibri"/>
              <a:buNone/>
            </a:pPr>
            <a:r>
              <a:rPr lang="en-US" sz="1800" b="1" i="1" u="none" strike="noStrike" cap="none" dirty="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Technical Feasibility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Calibri"/>
              <a:buNone/>
            </a:pPr>
            <a:endParaRPr sz="1800"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Sentinel-1 SAR data is free and openly available via Copernicus, with ~6–12 day revisit over Indian coastal waters.</a:t>
            </a: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Open SAR oil-spill datasets exist for training/benchmarking segmentation models.</a:t>
            </a: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Public AIS aggregators (AIS Hub, </a:t>
            </a:r>
            <a:r>
              <a:rPr lang="en-US" b="0" i="0" u="none" strike="noStrike" cap="none" dirty="0" err="1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MarineTraffic</a:t>
            </a:r>
            <a:r>
              <a:rPr lang="en-US" b="0" i="0" u="none" strike="noStrike" cap="none" dirty="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 API) supply vessel-track data for attribution.</a:t>
            </a: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Reference systems (e.g. EMSA </a:t>
            </a:r>
            <a:r>
              <a:rPr lang="en-US" b="0" i="0" u="none" strike="noStrike" cap="none" dirty="0" err="1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CleanSeaNet</a:t>
            </a:r>
            <a:r>
              <a:rPr lang="en-US" b="0" i="0" u="none" strike="noStrike" cap="none" dirty="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) already push pollution alerts within ~30 minutes of image acquisition — a proven benchmark to aim for.</a:t>
            </a:r>
            <a:endParaRPr dirty="0"/>
          </a:p>
        </p:txBody>
      </p:sp>
      <p:sp>
        <p:nvSpPr>
          <p:cNvPr id="104" name="Google Shape;104;p4"/>
          <p:cNvSpPr txBox="1"/>
          <p:nvPr/>
        </p:nvSpPr>
        <p:spPr>
          <a:xfrm>
            <a:off x="260213" y="4195966"/>
            <a:ext cx="6113204" cy="1877397"/>
          </a:xfrm>
          <a:prstGeom prst="rect">
            <a:avLst/>
          </a:prstGeom>
          <a:solidFill>
            <a:srgbClr val="DCE6F2"/>
          </a:solidFill>
          <a:ln w="38100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Calibri"/>
              <a:buNone/>
            </a:pPr>
            <a:r>
              <a:rPr lang="en-US" sz="1800" b="1" i="1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Operational &amp; Data Viability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Calibri"/>
              <a:buNone/>
            </a:pP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Small spills under ~7 </a:t>
            </a:r>
            <a:r>
              <a:rPr lang="en-US" b="0" i="0" u="none" strike="noStrike" cap="none" dirty="0" err="1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tonnes</a:t>
            </a:r>
            <a:r>
              <a:rPr lang="en-US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 are the hardest to catch manually, yet may account for up to 80% of global spill incidents — the automation gap is real.</a:t>
            </a: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SAR works day/night and through cloud cover, unlike optical satellite imagery or manual patrols.</a:t>
            </a: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Dashboard output (map + vessel ID + estimated area) is directly usable by Coast Guard / port control workflows.</a:t>
            </a:r>
            <a:endParaRPr dirty="0"/>
          </a:p>
        </p:txBody>
      </p:sp>
      <p:sp>
        <p:nvSpPr>
          <p:cNvPr id="105" name="Google Shape;105;p4"/>
          <p:cNvSpPr txBox="1"/>
          <p:nvPr/>
        </p:nvSpPr>
        <p:spPr>
          <a:xfrm>
            <a:off x="6791625" y="4195967"/>
            <a:ext cx="4948989" cy="1877397"/>
          </a:xfrm>
          <a:prstGeom prst="rect">
            <a:avLst/>
          </a:prstGeom>
          <a:solidFill>
            <a:srgbClr val="DCE6F2"/>
          </a:solidFill>
          <a:ln w="38100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Calibri"/>
              <a:buNone/>
            </a:pPr>
            <a:r>
              <a:rPr lang="en-US" sz="1800" b="1" i="1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Why It Matters for India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Calibri"/>
              <a:buNone/>
            </a:pP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India has a coastline of roughly 7,500 km and an EEZ of about 2.15 million km² to monitor.</a:t>
            </a: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A large share of global seaborne oil trade transits Indian Ocean waters, raising spill risk near ports and shipping lanes.</a:t>
            </a:r>
            <a:endParaRPr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Symbols"/>
              <a:buChar char="❖"/>
            </a:pPr>
            <a:r>
              <a:rPr lang="en-US" b="0" i="0" u="none" strike="noStrike" cap="none" dirty="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Manual/aerial patrols cover only a fraction of this area — satellite-based monitoring scales where patrols cannot.</a:t>
            </a:r>
            <a:endParaRPr dirty="0"/>
          </a:p>
        </p:txBody>
      </p:sp>
      <p:pic>
        <p:nvPicPr>
          <p:cNvPr id="106" name="Google Shape;106;p4" descr="WhatsApp Image 2026-08-29 at 08.45.07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152" y="1394629"/>
            <a:ext cx="5737635" cy="2638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25" y="113150"/>
            <a:ext cx="1289350" cy="1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26136" y="6507500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ldNum" idx="1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rgbClr val="FFFFFF"/>
                </a:solidFill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6" name="Google Shape;116;p5" descr="Picture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3438890" y="1144500"/>
            <a:ext cx="8591047" cy="289305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Taking into account environmental features like wind speed/direction, ocean currents wave conditions temperature and rainfall can largely affect the capacity of SAR to predict oil slicks with accuracy.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Studies show that wind speed/direction incorporation gives false alarm reduction ranging from 14%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34%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compared to mono-modal models.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10–20% improvement in overall oil-spill identification reliability and a significant reduction in false positives through multi-source SAR + environmental-data fusion.</a:t>
            </a:r>
            <a:endParaRPr dirty="0"/>
          </a:p>
        </p:txBody>
      </p:sp>
      <p:sp>
        <p:nvSpPr>
          <p:cNvPr id="118" name="Google Shape;118;p5"/>
          <p:cNvSpPr txBox="1"/>
          <p:nvPr/>
        </p:nvSpPr>
        <p:spPr>
          <a:xfrm>
            <a:off x="3438892" y="4099007"/>
            <a:ext cx="8591046" cy="224676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Sentinel-1 can detect ships even when they aren't broadcasting AIS.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European Space Agency specifically describes the capability of SAR and AIS integration  for identifying so-called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"dark" vessels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TARGET:</a:t>
            </a: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15-35% improvement in probabilistic attribution of ships along with reduction in false attribution / missed-vessel cases through SAR–AIS cross-validation.</a:t>
            </a: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609600" y="1428957"/>
            <a:ext cx="2250000" cy="4744961"/>
            <a:chOff x="513450" y="2319"/>
            <a:chExt cx="2250000" cy="4744961"/>
          </a:xfrm>
        </p:grpSpPr>
        <p:sp>
          <p:nvSpPr>
            <p:cNvPr id="120" name="Google Shape;120;p5"/>
            <p:cNvSpPr/>
            <p:nvPr/>
          </p:nvSpPr>
          <p:spPr>
            <a:xfrm>
              <a:off x="828450" y="2319"/>
              <a:ext cx="1620000" cy="1530632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828450" y="2319"/>
              <a:ext cx="1620000" cy="1530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25" tIns="40625" rIns="40625" bIns="40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the 2010s, there were 63 spills of 7 </a:t>
              </a:r>
              <a:r>
                <a:rPr lang="en-US" sz="16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tonnes</a:t>
              </a:r>
              <a:r>
                <a:rPr lang="en-US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and over, resulting in 164,000 </a:t>
              </a:r>
              <a:r>
                <a:rPr lang="en-US" sz="16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tonnes</a:t>
              </a:r>
              <a:r>
                <a:rPr lang="en-US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 oil lost</a:t>
              </a:r>
              <a:r>
                <a:rPr lang="en-US" sz="10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828450" y="1609483"/>
              <a:ext cx="1620000" cy="1530632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 txBox="1"/>
            <p:nvPr/>
          </p:nvSpPr>
          <p:spPr>
            <a:xfrm>
              <a:off x="828450" y="1609483"/>
              <a:ext cx="1620000" cy="1530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25" tIns="40625" rIns="40625" bIns="40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the 2020s to date, there have been 43 spills of 7 tonnes and over, resulting in 42,000 tonnes of oil lost.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13450" y="3216648"/>
              <a:ext cx="2250000" cy="1530632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 txBox="1"/>
            <p:nvPr/>
          </p:nvSpPr>
          <p:spPr>
            <a:xfrm>
              <a:off x="513450" y="3216648"/>
              <a:ext cx="2250000" cy="1530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25" tIns="40625" rIns="40625" bIns="40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Oil spills devastate the biosphere by coating habitats in toxic petroleum, which suffocates aquatic life and poisons the food chain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6" name="Google Shape;12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25" y="113150"/>
            <a:ext cx="1289350" cy="1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sldNum" idx="1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rgbClr val="FFFFFF"/>
                </a:solidFill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5" name="Google Shape;135;p6" descr="Picture 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6"/>
          <p:cNvGrpSpPr/>
          <p:nvPr/>
        </p:nvGrpSpPr>
        <p:grpSpPr>
          <a:xfrm>
            <a:off x="7549109" y="1915165"/>
            <a:ext cx="4461949" cy="4146131"/>
            <a:chOff x="690543" y="2390"/>
            <a:chExt cx="4461949" cy="4146131"/>
          </a:xfrm>
        </p:grpSpPr>
        <p:sp>
          <p:nvSpPr>
            <p:cNvPr id="137" name="Google Shape;137;p6"/>
            <p:cNvSpPr/>
            <p:nvPr/>
          </p:nvSpPr>
          <p:spPr>
            <a:xfrm rot="10800000">
              <a:off x="1266873" y="2390"/>
              <a:ext cx="3885619" cy="1152658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1555037" y="2390"/>
              <a:ext cx="3597455" cy="1152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275" tIns="60950" rIns="113775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Copernicus Open Access Hub: 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Free Sentinel-1 SAR imagery</a:t>
              </a:r>
              <a:endPara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690543" y="2390"/>
              <a:ext cx="1152658" cy="1152658"/>
            </a:xfrm>
            <a:prstGeom prst="ellipse">
              <a:avLst/>
            </a:prstGeom>
            <a:solidFill>
              <a:srgbClr val="C0CCE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/>
                <a:t>1</a:t>
              </a:r>
              <a:endParaRPr sz="2800" dirty="0"/>
            </a:p>
          </p:txBody>
        </p:sp>
        <p:sp>
          <p:nvSpPr>
            <p:cNvPr id="140" name="Google Shape;140;p6"/>
            <p:cNvSpPr/>
            <p:nvPr/>
          </p:nvSpPr>
          <p:spPr>
            <a:xfrm rot="10800000">
              <a:off x="1266873" y="1499127"/>
              <a:ext cx="3885619" cy="1152658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1555037" y="1499127"/>
              <a:ext cx="3597455" cy="1152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275" tIns="60950" rIns="113775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AISHub/ MarineTraffic API: 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AIS vessel-position feeds</a:t>
              </a:r>
              <a:endPara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690543" y="1499127"/>
              <a:ext cx="1152658" cy="1152658"/>
            </a:xfrm>
            <a:prstGeom prst="ellipse">
              <a:avLst/>
            </a:prstGeom>
            <a:solidFill>
              <a:srgbClr val="C0CCE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/>
                <a:t>2</a:t>
              </a:r>
              <a:endParaRPr sz="2800" dirty="0"/>
            </a:p>
          </p:txBody>
        </p:sp>
        <p:sp>
          <p:nvSpPr>
            <p:cNvPr id="143" name="Google Shape;143;p6"/>
            <p:cNvSpPr/>
            <p:nvPr/>
          </p:nvSpPr>
          <p:spPr>
            <a:xfrm rot="10800000">
              <a:off x="1266873" y="2995863"/>
              <a:ext cx="3885619" cy="1152658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1555037" y="2995863"/>
              <a:ext cx="3597455" cy="1152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275" tIns="60950" rIns="113775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 SAR oil-spill Datasets: 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 training/benchmarking the segmentation model</a:t>
              </a:r>
              <a:endPara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690543" y="2995863"/>
              <a:ext cx="1152658" cy="1152658"/>
            </a:xfrm>
            <a:prstGeom prst="ellipse">
              <a:avLst/>
            </a:prstGeom>
            <a:solidFill>
              <a:srgbClr val="C0CCE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3000" dir="5400000" rotWithShape="0">
                <a:srgbClr val="000000">
                  <a:alpha val="3490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/>
                <a:t>3</a:t>
              </a:r>
              <a:endParaRPr sz="2800" dirty="0"/>
            </a:p>
          </p:txBody>
        </p:sp>
      </p:grpSp>
      <p:sp>
        <p:nvSpPr>
          <p:cNvPr id="146" name="Google Shape;146;p6"/>
          <p:cNvSpPr txBox="1"/>
          <p:nvPr/>
        </p:nvSpPr>
        <p:spPr>
          <a:xfrm flipH="1">
            <a:off x="8714791" y="1222310"/>
            <a:ext cx="3023117" cy="615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3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581632" y="1179947"/>
            <a:ext cx="3223633" cy="615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REFERENCES</a:t>
            </a:r>
            <a:endParaRPr sz="3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329773" y="1689864"/>
            <a:ext cx="6864130" cy="4478147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lang="en-US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Topouzelis, K., "Oil Spill Detection by SAR Images: Dark Formation Detection, Feature Extraction and Classification Algorithms," Sensors, 2008.</a:t>
            </a:r>
            <a:endParaRPr/>
          </a:p>
          <a:p>
            <a:pPr marL="28575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lang="en-US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Zhao, J. et al., "Tracing illegal oil discharges from vessels using SAR and AIS in the Bohai Sea, China," Marine Pollution Bulletin, 2021.</a:t>
            </a:r>
            <a:endParaRPr/>
          </a:p>
          <a:p>
            <a:pPr marL="28575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lang="en-US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EMSA (European Maritime Safety Agency), "How does SAR detection work? Satellite-based Services," emsa.europa.eu.</a:t>
            </a:r>
            <a:endParaRPr/>
          </a:p>
          <a:p>
            <a:pPr marL="28575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lang="en-US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ICEYE, "Oil Spills SAR Data Use Case," iceye.com.</a:t>
            </a:r>
            <a:endParaRPr/>
          </a:p>
          <a:p>
            <a:pPr marL="28575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lang="en-US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Krestenitis, M. et al., "Full-Scale Aggregated MobileUNet for SAR Oil Spill Detection," 2024.</a:t>
            </a:r>
            <a:endParaRPr/>
          </a:p>
          <a:p>
            <a:pPr marL="28575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lang="en-US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Sentinel Online / ESA, "Sentinel-1 Supports Detection of Illegal Oil Spills," sentinel.esa.int.</a:t>
            </a:r>
            <a:endParaRPr/>
          </a:p>
          <a:p>
            <a:pPr marL="28575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lang="en-US" sz="1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Case study: C-band Sentinel-1A SAR data for oil-spill detection off Chennai, East Coast of India, 2017 event, Marine Pollution Bulletin.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25" y="113150"/>
            <a:ext cx="1289350" cy="1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740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Garamond</vt:lpstr>
      <vt:lpstr>Noto Sans Symbols</vt:lpstr>
      <vt:lpstr>Oswald</vt:lpstr>
      <vt:lpstr>Times</vt:lpstr>
      <vt:lpstr>Times New Roman</vt:lpstr>
      <vt:lpstr>Office Theme</vt:lpstr>
      <vt:lpstr>SMART INDIA HACKATHON 2026</vt:lpstr>
      <vt:lpstr> SATELLITE + AIS OIL SPILL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Pravin</dc:creator>
  <cp:lastModifiedBy>Pravin Kumar</cp:lastModifiedBy>
  <cp:revision>4</cp:revision>
  <dcterms:modified xsi:type="dcterms:W3CDTF">2026-09-05T19:38:36Z</dcterms:modified>
</cp:coreProperties>
</file>